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20"/>
    <p:sldId id="270" r:id="rId21"/>
    <p:sldId id="271" r:id="rId22"/>
    <p:sldId id="272" r:id="rId2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43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2430"/>
                </a:solidFill>
                <a:latin typeface="Arial"/>
              </a:rPr>
              <a:t>Scoring rubric (out of 100)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 (points)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Contact
Info</c:v>
                  </c:pt>
                  <c:pt idx="1">
                    <c:v>Skills</c:v>
                  </c:pt>
                  <c:pt idx="2">
                    <c:v>Education</c:v>
                  </c:pt>
                  <c:pt idx="3">
                    <c:v>Projects</c:v>
                  </c:pt>
                  <c:pt idx="4">
                    <c:v>Structure</c:v>
                  </c:pt>
                  <c:pt idx="5">
                    <c:v>Complete-
ness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15</c:v>
                </c:pt>
                <c:pt idx="3">
                  <c:v>20</c:v>
                </c:pt>
                <c:pt idx="4">
                  <c:v>15</c:v>
                </c:pt>
                <c:pt idx="5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Resume</c:v>
                  </c:pt>
                  <c:pt idx="1">
                    <c:v>ATS</c:v>
                  </c:pt>
                  <c:pt idx="2">
                    <c:v>Impact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</c:v>
                </c:pt>
                <c:pt idx="1">
                  <c:v>42</c:v>
                </c:pt>
                <c:pt idx="2">
                  <c:v>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6308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263080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RESUMEIQ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060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ResumeIQ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Resume Analyzer built on explainable, rule-based NLP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89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|  Aditya Parthasarathy  |  SkillOrbit AI Capstone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Resumes get filtered before a human ever reads them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9339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ATS filtering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39572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can't tell whether their resume will even reach a recruiter's screen.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68680" y="3657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6868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45643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feedback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85876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reviewers say "make it stronger" without saying which bullet, or why.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" y="5120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6868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91947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AI tools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532180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reviewers can't explain their scoring, making the feedback hard to trust or act on.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required capabilities, one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29968" cy="3291840"/>
          </a:xfrm>
          <a:prstGeom prst="roundRect">
            <a:avLst>
              <a:gd name="adj" fmla="val 3604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89304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289304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15468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Parse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886200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 text extraction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07208" y="2103120"/>
            <a:ext cx="2029968" cy="3291840"/>
          </a:xfrm>
          <a:prstGeom prst="roundRect">
            <a:avLst>
              <a:gd name="adj" fmla="val 3604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547872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547872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916936" y="315468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/100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2944368" y="3886200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skills, education, projects, contact, completeness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65776" y="2103120"/>
            <a:ext cx="2029968" cy="3291840"/>
          </a:xfrm>
          <a:prstGeom prst="roundRect">
            <a:avLst>
              <a:gd name="adj" fmla="val 3604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806440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58064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175504" y="315468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Keyword Check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5202936" y="3886200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gap analysis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24344" y="2103120"/>
            <a:ext cx="2029968" cy="3291840"/>
          </a:xfrm>
          <a:prstGeom prst="roundRect">
            <a:avLst>
              <a:gd name="adj" fmla="val 3604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65008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8065008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34072" y="315468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Feedback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461504" y="3886200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suggestions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582912" y="2103120"/>
            <a:ext cx="2029968" cy="3291840"/>
          </a:xfrm>
          <a:prstGeom prst="roundRect">
            <a:avLst>
              <a:gd name="adj" fmla="val 3604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323576" y="242316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10323576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315468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9720072" y="3886200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page, everything visible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flow: thin routes, testable services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810512" cy="1463040"/>
          </a:xfrm>
          <a:prstGeom prst="roundRect">
            <a:avLst>
              <a:gd name="adj" fmla="val 5000"/>
            </a:avLst>
          </a:prstGeom>
          <a:solidFill>
            <a:srgbClr val="EEF1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21792" y="2468880"/>
            <a:ext cx="1664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359152" y="2377440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862072" y="2377440"/>
            <a:ext cx="1810512" cy="1463040"/>
          </a:xfrm>
          <a:prstGeom prst="roundRect">
            <a:avLst>
              <a:gd name="adj" fmla="val 5000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2935224" y="2468880"/>
            <a:ext cx="1664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parser.py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672584" y="2377440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175504" y="2377440"/>
            <a:ext cx="1810512" cy="1463040"/>
          </a:xfrm>
          <a:prstGeom prst="roundRect">
            <a:avLst>
              <a:gd name="adj" fmla="val 5000"/>
            </a:avLst>
          </a:prstGeom>
          <a:solidFill>
            <a:srgbClr val="EEF1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248656" y="2468880"/>
            <a:ext cx="1664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scorer.py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ats_matcher.py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impact_score.py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986016" y="2377440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488936" y="2377440"/>
            <a:ext cx="1810512" cy="1463040"/>
          </a:xfrm>
          <a:prstGeom prst="roundRect">
            <a:avLst>
              <a:gd name="adj" fmla="val 5000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562088" y="2468880"/>
            <a:ext cx="1664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feedback.py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299448" y="2377440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802368" y="2377440"/>
            <a:ext cx="1810512" cy="1463040"/>
          </a:xfrm>
          <a:prstGeom prst="roundRect">
            <a:avLst>
              <a:gd name="adj" fmla="val 5000"/>
            </a:avLst>
          </a:prstGeom>
          <a:solidFill>
            <a:srgbClr val="EEF1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9875520" y="2468880"/>
            <a:ext cx="1664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(cached)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80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scoring algorithm lives in a framework-free service module (app/services/) so it can be unit-tested without a running Flask app or browser. Routes only validate input, call services, and render.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NLP, not deep learning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94610" cy="1463040"/>
          </a:xfrm>
          <a:prstGeom prst="roundRect">
            <a:avLst>
              <a:gd name="adj" fmla="val 5000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13232" y="2157984"/>
            <a:ext cx="2265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633472"/>
            <a:ext cx="22654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(app factory)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71850" y="2011680"/>
            <a:ext cx="2594610" cy="1463040"/>
          </a:xfrm>
          <a:prstGeom prst="roundRect">
            <a:avLst>
              <a:gd name="adj" fmla="val 5000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536442" y="2157984"/>
            <a:ext cx="2265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3536442" y="2633472"/>
            <a:ext cx="22654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(en_core_web_sm) + regex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95060" y="2011680"/>
            <a:ext cx="2594610" cy="1463040"/>
          </a:xfrm>
          <a:prstGeom prst="roundRect">
            <a:avLst>
              <a:gd name="adj" fmla="val 5000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359652" y="2157984"/>
            <a:ext cx="2265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Matching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359652" y="2633472"/>
            <a:ext cx="22654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rapidfuzz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18270" y="2011680"/>
            <a:ext cx="2594610" cy="1463040"/>
          </a:xfrm>
          <a:prstGeom prst="roundRect">
            <a:avLst>
              <a:gd name="adj" fmla="val 5000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182862" y="2157984"/>
            <a:ext cx="2265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9182862" y="2633472"/>
            <a:ext cx="22654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Flask-SQLAlchemy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2594610" cy="1463040"/>
          </a:xfrm>
          <a:prstGeom prst="roundRect">
            <a:avLst>
              <a:gd name="adj" fmla="val 5000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13232" y="3849624"/>
            <a:ext cx="2265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4325112"/>
            <a:ext cx="22654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+ Tailwind + Chart.js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71850" y="3703320"/>
            <a:ext cx="2594610" cy="1463040"/>
          </a:xfrm>
          <a:prstGeom prst="roundRect">
            <a:avLst>
              <a:gd name="adj" fmla="val 5000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3536442" y="3849624"/>
            <a:ext cx="2265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3536442" y="4325112"/>
            <a:ext cx="22654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 --  119 tests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95060" y="3703320"/>
            <a:ext cx="2594610" cy="1463040"/>
          </a:xfrm>
          <a:prstGeom prst="roundRect">
            <a:avLst>
              <a:gd name="adj" fmla="val 5000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359652" y="3849624"/>
            <a:ext cx="2265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359652" y="4325112"/>
            <a:ext cx="22654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(gunicorn)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018270" y="3703320"/>
            <a:ext cx="259461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9182862" y="3849624"/>
            <a:ext cx="226542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calls, no embeddings, no deep learning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182862" y="4617720"/>
            <a:ext cx="2265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traces to an explicit rule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Score Analyzer  --  six weighted categories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920240"/>
            <a:ext cx="320040" cy="3200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5438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18470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detected via short, keyword-matching header lines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543800" y="2880360"/>
            <a:ext cx="320040" cy="3200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54380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28072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false positives from a bullet that just mentions "skills"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543800" y="3840480"/>
            <a:ext cx="320040" cy="3200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754380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37673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gets a bonus for a detected degree or graduation year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543800" y="4800600"/>
            <a:ext cx="320040" cy="3200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7543800" y="4800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001000" y="472744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rewards bullet usage + resume length in a healthy range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ATS Keyword Checker  --  role-aware gap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Developer  --  Must-Have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JavaScript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63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Git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20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REST API (synonym)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HTML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434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CSS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892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Responsive Design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486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Score: 42 / 100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3640" y="18288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58368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score formula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6060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x must-have match rate  +  30% x nice-to-have match rate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3566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Word-boundary regex matching  --  "SQL" must not match inside "MySQL".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45720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resume scores 28/100 as "AI Engineer" but 42/100 as "Cloud Engineer"  --  proof it's actually role-sensitive, not just a generic tech-word counter.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 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Score  --  bullet-level NLP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195681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 Strength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1956816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lemma vs. curated strong/weak lexicon, with a suffix-normalization fallback for mis-tagged fragments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875520" y="1956816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868680" y="319125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Quantification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3191256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for %, $, multipliers, or a number next to a metric word ("4 engineers")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875520" y="3191256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68680" y="442569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Voice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4425696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dependency parse  --  checks for nsubjpass / auxpass labels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0" y="4425696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68680" y="55778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"Led a team of 4 engineers to redesign the checkout flow, increasing conversion by 18%"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0" y="5577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verb ✓ metric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Fuzzy &amp; synonym-aware ATS matching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  →  synonym map  →  rapidfuzz typo match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594610" cy="1737360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2594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25946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83280"/>
            <a:ext cx="2594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40480"/>
            <a:ext cx="25946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71850" y="2468880"/>
            <a:ext cx="2594610" cy="1737360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371850" y="2651760"/>
            <a:ext cx="2594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371850" y="3063240"/>
            <a:ext cx="25946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371850" y="3383280"/>
            <a:ext cx="2594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371850" y="3840480"/>
            <a:ext cx="25946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95060" y="2468880"/>
            <a:ext cx="2594610" cy="1737360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195060" y="2651760"/>
            <a:ext cx="2594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195060" y="3063240"/>
            <a:ext cx="25946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195060" y="3383280"/>
            <a:ext cx="2594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195060" y="3840480"/>
            <a:ext cx="25946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18270" y="2468880"/>
            <a:ext cx="2594610" cy="1737360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9018270" y="2651760"/>
            <a:ext cx="2594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dockr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018270" y="3063240"/>
            <a:ext cx="25946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018270" y="3383280"/>
            <a:ext cx="2594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018270" y="3840480"/>
            <a:ext cx="25946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(typo)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868680" y="47548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empirically, not guessed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51663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rapidfuzz scores "python" vs. "cython" and "python" vs. "pyhton" (a real typo) identically at 83.3. A looser threshold would credit a resume that only mentions Cython with knowing Python  --  so the threshold (90) and a token-length filter were chosen specifically to avoid that false positive, at the cost of some short-word typo recall.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dashboard: score, ATS, impact, feedback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950720" cy="1554480"/>
          </a:xfrm>
          <a:prstGeom prst="roundRect">
            <a:avLst>
              <a:gd name="adj" fmla="val 4706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195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Score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73680" y="1828800"/>
            <a:ext cx="1950720" cy="1554480"/>
          </a:xfrm>
          <a:prstGeom prst="roundRect">
            <a:avLst>
              <a:gd name="adj" fmla="val 4706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2773680" y="1920240"/>
            <a:ext cx="195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773680" y="2834640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Score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98720" y="1828800"/>
            <a:ext cx="1950720" cy="1554480"/>
          </a:xfrm>
          <a:prstGeom prst="roundRect">
            <a:avLst>
              <a:gd name="adj" fmla="val 4706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998720" y="1920240"/>
            <a:ext cx="195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998720" y="2834640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Score</a:t>
            </a:r>
            <a:endParaRPr lang="en-US" sz="11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48640" y="3611880"/>
          <a:ext cx="6400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7223760" y="1828800"/>
            <a:ext cx="4389120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7498080" y="2057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Feedback (sample)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498080" y="2560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7498080" y="285292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missing must-have keywords: HTML, CSS, Responsive Design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498080" y="3657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498080" y="395020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bullets use weak phrasing  --  replace with strong verbs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7498080" y="504748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7 bullets have no quantified metric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 tests  --  plus bugs only manual testing caught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tests alone weren't trusted. Every feature was exercised live, which surfaced real issues: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77240" y="2404872"/>
            <a:ext cx="365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386584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mis-tags "Optimized" as an adjective in a subject-less bullet, missing the verb lexicon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38658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Suffix-normalization fallback + regression test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401568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77240" y="3474720"/>
            <a:ext cx="365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456432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"Was responsible for X" not flagged weak  --  phrase check only matched the literal start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345643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Strip leading was/were/is/are before the check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471416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77240" y="4544568"/>
            <a:ext cx="365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5262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"latest" CDN link served an ES-module build that throws in a &lt;script&gt; tag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45262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Fetched &amp; read the file directly; pinned the UMD build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541264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77240" y="5614416"/>
            <a:ext cx="365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596128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corrupt PDF/DOCX crashed the request and orphaned the file on disk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559612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try/except at the parser boundary → friendly error + cleanup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  --  documented, not hidden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5564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Passive-voice detection only catches "was/were + past participle"  --  reduced passives ("Errors reduced by 30%") go undetected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62432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Fuzzy-match threshold trades some short-word typo recall for precision (avoids crediting Cython as Python)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9300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extraction is marker-based (-, *, -); a resume with no bullet markers yields no impact score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40080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6168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persistent disk on Render's free tier  --  uploads reset on redeploy / spin-down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68680" y="55321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Render (Blueprint) → GitHub auto-deploy → gunicorn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8978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to main redeploys automatically; spaCy model downloaded during the build step.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6308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263080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00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what your resume is missing.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97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resumeiq-s3xc.onrender.com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120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github.com/AdityaParthasarathy/resumeiq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5A623"/>
                </a:solidFill>
                <a:latin typeface="Calibri"/>
              </a:rPr>
              <a:t>DIFFERENTIATOR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E2761"/>
                </a:solidFill>
                <a:latin typeface="Cambria"/>
              </a:rPr>
              <a:t>Same resume, every role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B6B8C"/>
                </a:solidFill>
                <a:latin typeface="Calibri"/>
              </a:rPr>
              <a:t>The ATS matcher is regex/fuzzy comparison, not a spaCy call -- cheap enough to run against all 8 role banks on every 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9339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</a:rPr>
              <a:t>Data Analyst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1965960"/>
            <a:ext cx="7223760" cy="38404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199339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5B6B8C"/>
                </a:solidFill>
                <a:latin typeface="Calibri"/>
              </a:rPr>
              <a:t>35/100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9933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5A623"/>
                </a:solidFill>
                <a:latin typeface="Calibri"/>
              </a:rPr>
              <a:t>best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1E2761"/>
                </a:solidFill>
                <a:latin typeface="Calibri"/>
              </a:rPr>
              <a:t>Web Developer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2532888"/>
            <a:ext cx="3095897" cy="384048"/>
          </a:xfrm>
          <a:prstGeom prst="roundRect">
            <a:avLst>
              <a:gd name="adj" fmla="val 25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7737" y="25603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5B6B8C"/>
                </a:solidFill>
                <a:latin typeface="Calibri"/>
              </a:rPr>
              <a:t>15/100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2724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</a:rPr>
              <a:t>AI Engineer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3099815"/>
            <a:ext cx="2889504" cy="384048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1344" y="312724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5B6B8C"/>
                </a:solidFill>
                <a:latin typeface="Calibri"/>
              </a:rPr>
              <a:t>14/100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2904" y="312724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E2761"/>
                </a:solidFill>
                <a:latin typeface="Calibri"/>
              </a:rPr>
              <a:t>target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94176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1E2761"/>
                </a:solidFill>
                <a:latin typeface="Calibri"/>
              </a:rPr>
              <a:t>Backend Developer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3666744"/>
            <a:ext cx="2889504" cy="384048"/>
          </a:xfrm>
          <a:prstGeom prst="roundRect">
            <a:avLst>
              <a:gd name="adj" fmla="val 25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1344" y="3694176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5B6B8C"/>
                </a:solidFill>
                <a:latin typeface="Calibri"/>
              </a:rPr>
              <a:t>14/100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6110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1E2761"/>
                </a:solidFill>
                <a:latin typeface="Calibri"/>
              </a:rPr>
              <a:t>Cloud Engineer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54680" y="4233672"/>
            <a:ext cx="164592" cy="384048"/>
          </a:xfrm>
          <a:prstGeom prst="roundRect">
            <a:avLst>
              <a:gd name="adj" fmla="val 25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4261104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5B6B8C"/>
                </a:solidFill>
                <a:latin typeface="Calibri"/>
              </a:rPr>
              <a:t>0/100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2803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1E2761"/>
                </a:solidFill>
                <a:latin typeface="Calibri"/>
              </a:rPr>
              <a:t>Mobile App Developer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54680" y="4800600"/>
            <a:ext cx="164592" cy="384048"/>
          </a:xfrm>
          <a:prstGeom prst="roundRect">
            <a:avLst>
              <a:gd name="adj" fmla="val 25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56432" y="482803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5B6B8C"/>
                </a:solidFill>
                <a:latin typeface="Calibri"/>
              </a:rPr>
              <a:t>0/100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4068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577840"/>
            <a:ext cx="7589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Calibri"/>
              </a:rPr>
              <a:t>This resume actually matches </a:t>
            </a:r>
            <a:r>
              <a:rPr sz="1300" b="1">
                <a:solidFill>
                  <a:srgbClr val="F5A623"/>
                </a:solidFill>
                <a:latin typeface="Calibri"/>
              </a:rPr>
              <a:t>Data Analyst</a:t>
            </a:r>
            <a:r>
              <a:rPr sz="1300" b="0">
                <a:solidFill>
                  <a:srgbClr val="FFFFFF"/>
                </a:solidFill>
                <a:latin typeface="Calibri"/>
              </a:rPr>
              <a:t> keywords better (35/100) than AI Engineer (14/100)</a:t>
            </a:r>
            <a:r>
              <a:rPr sz="1300" b="0">
                <a:solidFill>
                  <a:srgbClr val="FFFFFF"/>
                </a:solidFill>
                <a:latin typeface="Calibri"/>
              </a:rPr>
              <a:t> -- an honest cross-role check a single-role ATS score can't give you.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B8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5A623"/>
                </a:solidFill>
                <a:latin typeface="Calibri"/>
              </a:rPr>
              <a:t>DIFFERENTIATOR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E2761"/>
                </a:solidFill>
                <a:latin typeface="Cambria"/>
              </a:rPr>
              <a:t>A percentile that says what it 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108960" cy="192024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1E2761"/>
                </a:solidFill>
                <a:latin typeface="Cambria"/>
              </a:rPr>
              <a:t>~86th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B6B8C"/>
                </a:solidFill>
                <a:latin typeface="Calibri"/>
              </a:rPr>
              <a:t>percentile shown per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1874519"/>
            <a:ext cx="76352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0">
                <a:solidFill>
                  <a:srgbClr val="5B6B8C"/>
                </a:solidFill>
                <a:latin typeface="Calibri"/>
              </a:rPr>
              <a:t>It would have been easy to phrase this against “other ResumeIQ users.” </a:t>
            </a:r>
            <a:r>
              <a:rPr sz="1350" b="1">
                <a:solidFill>
                  <a:srgbClr val="1E2761"/>
                </a:solidFill>
                <a:latin typeface="Calibri"/>
              </a:rPr>
              <a:t>That data doesn't exist</a:t>
            </a:r>
            <a:r>
              <a:rPr sz="1350" b="0">
                <a:solidFill>
                  <a:srgbClr val="5B6B8C"/>
                </a:solidFill>
                <a:latin typeface="Calibri"/>
              </a:rPr>
              <a:t> -- so the percentile instead comes from a documented normal-distribution model of typical early-career resumes, evaluated with the standard normal CDF, and the UI says exactly that.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97680"/>
            <a:ext cx="11064240" cy="21488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434840"/>
            <a:ext cx="7589520" cy="1874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Calibri"/>
              </a:rPr>
              <a:t>“Read it as </a:t>
            </a:r>
            <a:r>
              <a:rPr sz="1300" b="1">
                <a:solidFill>
                  <a:srgbClr val="F5A623"/>
                </a:solidFill>
                <a:latin typeface="Calibri"/>
              </a:rPr>
              <a:t>vs. a typical early-career resume,</a:t>
            </a:r>
            <a:r>
              <a:rPr sz="1300" b="0">
                <a:solidFill>
                  <a:srgbClr val="FFFFFF"/>
                </a:solidFill>
                <a:latin typeface="Calibri"/>
              </a:rPr>
              <a:t> not vs. everyone who's used this tool.”</a:t>
            </a:r>
            <a:r>
              <a:rPr sz="1300" b="0">
                <a:solidFill>
                  <a:srgbClr val="FFFFFF"/>
                </a:solidFill>
                <a:latin typeface="Calibri"/>
              </a:rPr>
              <a:t> -- the FAQ answers this question directly, in these words, for anyone who asks.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B8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5A623"/>
                </a:solidFill>
                <a:latin typeface="Calibri"/>
              </a:rPr>
              <a:t>DIFFERENTIATOR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E2761"/>
                </a:solidFill>
                <a:latin typeface="Cambria"/>
              </a:rPr>
              <a:t>A real PDF, not a browser printout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56816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2761"/>
                </a:solidFill>
                <a:latin typeface="Calibri"/>
              </a:rPr>
              <a:t>What's in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956816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B6B8C"/>
                </a:solidFill>
                <a:latin typeface="Calibri"/>
              </a:rPr>
              <a:t>Score summary, the breakdown table, ATS keyword results, the role-fit table, the impact table, and the feedback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1956816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00" b="1">
                <a:solidFill>
                  <a:srgbClr val="F5A623"/>
                </a:solidFill>
                <a:latin typeface="Calibri"/>
              </a:rPr>
              <a:t>6 sections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6324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91256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2761"/>
                </a:solidFill>
                <a:latin typeface="Calibri"/>
              </a:rPr>
              <a:t>Why reportlab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191256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B6B8C"/>
                </a:solidFill>
                <a:latin typeface="Calibri"/>
              </a:rPr>
              <a:t>Pure-Python wheels -- deploys on Render's plain “pip install” build step; weasyprint/wkhtmltopdf both need native libraries that step can't install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3191256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00" b="1">
                <a:solidFill>
                  <a:srgbClr val="F5A623"/>
                </a:solidFill>
                <a:latin typeface="Calibri"/>
              </a:rPr>
              <a:t>no apt-get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25696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2761"/>
                </a:solidFill>
                <a:latin typeface="Calibri"/>
              </a:rPr>
              <a:t>Built independently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4425696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B6B8C"/>
                </a:solidFill>
                <a:latin typeface="Calibri"/>
              </a:rPr>
              <a:t>Its own layout in code, not a conversion of the Tailwind dashboard -- reliable across every browser and OS, not just the one that rendered a print preview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4425696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00" b="1">
                <a:solidFill>
                  <a:srgbClr val="F5A623"/>
                </a:solidFill>
                <a:latin typeface="Calibri"/>
              </a:rPr>
              <a:t>server-side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44068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577840"/>
            <a:ext cx="7589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5A623"/>
                </a:solidFill>
                <a:latin typeface="Calibri"/>
              </a:rPr>
              <a:t>The old “Print / Save as PDF” button stays too</a:t>
            </a:r>
            <a:r>
              <a:rPr sz="1300" b="0">
                <a:solidFill>
                  <a:srgbClr val="FFFFFF"/>
                </a:solidFill>
                <a:latin typeface="Calibri"/>
              </a:rPr>
              <a:t> -- for a literal copy of the on-screen page, next to the new formatted download.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B8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5A623"/>
                </a:solidFill>
                <a:latin typeface="Calibri"/>
              </a:rPr>
              <a:t>WHAT ELSE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E2761"/>
                </a:solidFill>
                <a:latin typeface="Cambria"/>
              </a:rPr>
              <a:t>A visual system, not just new features</a:t>
            </a:r>
          </a:p>
        </p:txBody>
      </p:sp>
      <p:pic>
        <p:nvPicPr>
          <p:cNvPr id="4" name="Picture 3" descr="her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8187397" cy="4434840"/>
          </a:xfrm>
          <a:prstGeom prst="rect">
            <a:avLst/>
          </a:prstGeom>
          <a:ln w="12700">
            <a:solidFill>
              <a:srgbClr val="E4E7EF"/>
            </a:solidFill>
          </a:ln>
        </p:spPr>
      </p:pic>
      <p:sp>
        <p:nvSpPr>
          <p:cNvPr id="5" name="Oval 4"/>
          <p:cNvSpPr/>
          <p:nvPr/>
        </p:nvSpPr>
        <p:spPr>
          <a:xfrm>
            <a:off x="8001000" y="1929384"/>
            <a:ext cx="128016" cy="12801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75320" y="1874519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2761"/>
                </a:solidFill>
                <a:latin typeface="Calibri"/>
              </a:rPr>
              <a:t>Shared button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2258568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B6B8C"/>
                </a:solidFill>
                <a:latin typeface="Calibri"/>
              </a:rPr>
              <a:t>One neon indigo/amber component used everywhere, replacing three separate ad hoc button styles.</a:t>
            </a:r>
          </a:p>
        </p:txBody>
      </p:sp>
      <p:sp>
        <p:nvSpPr>
          <p:cNvPr id="8" name="Oval 7"/>
          <p:cNvSpPr/>
          <p:nvPr/>
        </p:nvSpPr>
        <p:spPr>
          <a:xfrm>
            <a:off x="8001000" y="3346703"/>
            <a:ext cx="128016" cy="12801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3291839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2761"/>
                </a:solidFill>
                <a:latin typeface="Calibri"/>
              </a:rPr>
              <a:t>Particle 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675887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B6B8C"/>
                </a:solidFill>
                <a:latin typeface="Calibri"/>
              </a:rPr>
              <a:t>A canvas-based particle field behind every page, not just the landing hero.</a:t>
            </a:r>
          </a:p>
        </p:txBody>
      </p:sp>
      <p:sp>
        <p:nvSpPr>
          <p:cNvPr id="11" name="Oval 10"/>
          <p:cNvSpPr/>
          <p:nvPr/>
        </p:nvSpPr>
        <p:spPr>
          <a:xfrm>
            <a:off x="8001000" y="4764023"/>
            <a:ext cx="128016" cy="12801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4709159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2761"/>
                </a:solidFill>
                <a:latin typeface="Calibri"/>
              </a:rPr>
              <a:t>Accessible role picker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5093207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B6B8C"/>
                </a:solidFill>
                <a:latin typeface="Calibri"/>
              </a:rPr>
              <a:t>Full keyboard support -- arrows, Home/End, Enter, Escape, typeahead -- via aria-activedescendant, plus a no-JS fallback.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B8C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2026-09-11T15:05:06Z</dcterms:created>
  <dcterms:modified xsi:type="dcterms:W3CDTF">2026-09-11T15:05:06Z</dcterms:modified>
</cp:coreProperties>
</file>